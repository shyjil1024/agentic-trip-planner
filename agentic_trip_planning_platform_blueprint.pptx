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ARCHITECTURE BLUEPRINT   ·   2026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1005840" cy="0"/>
          </a:xfrm>
          <a:prstGeom prst="line">
            <a:avLst/>
          </a:prstGeom>
          <a:noFill/>
          <a:ln w="31750">
            <a:solidFill>
              <a:srgbClr val="5EEAD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33172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TRIP PLANNING PLATFORM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4612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an open-ended request to a validated, live, adaptive trip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3192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stateful, multi-agent travel decision system: real-world data, constraint optimization, independent validation, and event-driven replanning — kept correct from the first plan to the last mile.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4983480"/>
            <a:ext cx="2313432" cy="347472"/>
          </a:xfrm>
          <a:prstGeom prst="roundRect">
            <a:avLst>
              <a:gd name="adj" fmla="val 50000"/>
            </a:avLst>
          </a:prstGeom>
          <a:solidFill>
            <a:srgbClr val="0F1626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4983480"/>
            <a:ext cx="2313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orchestration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026664" y="4983480"/>
            <a:ext cx="1655064" cy="347472"/>
          </a:xfrm>
          <a:prstGeom prst="roundRect">
            <a:avLst>
              <a:gd name="adj" fmla="val 50000"/>
            </a:avLst>
          </a:prstGeom>
          <a:solidFill>
            <a:srgbClr val="0F1626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026664" y="4983480"/>
            <a:ext cx="1655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solver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46320" y="4983480"/>
            <a:ext cx="2066544" cy="347472"/>
          </a:xfrm>
          <a:prstGeom prst="roundRect">
            <a:avLst>
              <a:gd name="adj" fmla="val 50000"/>
            </a:avLst>
          </a:prstGeom>
          <a:solidFill>
            <a:srgbClr val="0F1626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46320" y="4983480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validation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077456" y="4983480"/>
            <a:ext cx="2148840" cy="347472"/>
          </a:xfrm>
          <a:prstGeom prst="roundRect">
            <a:avLst>
              <a:gd name="adj" fmla="val 50000"/>
            </a:avLst>
          </a:prstGeom>
          <a:solidFill>
            <a:srgbClr val="0F1626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077456" y="498348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replanning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3093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IMPLEMENTATION-GRADE EDITION — ARCHITECTURE, DATA MODEL, API, TESTING &amp; ROLLOUT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TRIP PLANNING PLATFORM  ·  BLUEPRINT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10728655" y="65471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0362895" y="31089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3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PROBLEM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2412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a trip is a constraint-satisfaction</a:t>
            </a:r>
            <a:endParaRPr lang="en-US" sz="25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2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disguised as a search task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5257800" cy="1691640"/>
          </a:xfrm>
          <a:prstGeom prst="roundRect">
            <a:avLst>
              <a:gd name="adj" fmla="val 4865"/>
            </a:avLst>
          </a:prstGeom>
          <a:solidFill>
            <a:srgbClr val="121A2E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2606040"/>
            <a:ext cx="82296" cy="82296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251460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data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2953512"/>
            <a:ext cx="47457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Flights, trains, hotels, weather, and places live in separate systems with no shared state. Every tool re-solves “what do I actually know” from scratch.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080760" y="2331720"/>
            <a:ext cx="5257800" cy="1691640"/>
          </a:xfrm>
          <a:prstGeom prst="roundRect">
            <a:avLst>
              <a:gd name="adj" fmla="val 4865"/>
            </a:avLst>
          </a:prstGeom>
          <a:solidFill>
            <a:srgbClr val="121A2E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36792" y="2606040"/>
            <a:ext cx="82296" cy="82296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37960" y="251460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constraint-checking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336792" y="2953512"/>
            <a:ext cx="47457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ceilings, date windows, transfer limits, and preferences live in the traveler’s head — nothing checks a generated plan against them.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297680"/>
            <a:ext cx="5257800" cy="1691640"/>
          </a:xfrm>
          <a:prstGeom prst="roundRect">
            <a:avLst>
              <a:gd name="adj" fmla="val 4865"/>
            </a:avLst>
          </a:prstGeom>
          <a:solidFill>
            <a:srgbClr val="121A2E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" y="4572000"/>
            <a:ext cx="82296" cy="82296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05840" y="448056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independent validation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04672" y="4919472"/>
            <a:ext cx="47457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itineraries look complete (days, times, hotel names) but are rarely checked for feasibility — overlaps, impossible check-ins, unreachable transfers slip through.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080760" y="4297680"/>
            <a:ext cx="5257800" cy="1691640"/>
          </a:xfrm>
          <a:prstGeom prst="roundRect">
            <a:avLst>
              <a:gd name="adj" fmla="val 4865"/>
            </a:avLst>
          </a:prstGeom>
          <a:solidFill>
            <a:srgbClr val="121A2E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36792" y="4572000"/>
            <a:ext cx="82296" cy="82296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37960" y="448056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plans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336792" y="4919472"/>
            <a:ext cx="47457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 a flight delays or the weather turns, the itinerary is stale, and no system tells the traveler what needs to change.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1722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 isn’t a nicer-looking itinerary. It’s closing the loop: plan → validate → monitor → replan, continuously.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TRIP PLANNING PLATFORM  ·  BLUEPRINT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10728655" y="65471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0362895" y="31089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3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MARKET LANDSCAPE — 2026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2412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travel planning went mainstream in 2026 —</a:t>
            </a:r>
            <a:endParaRPr lang="en-US" sz="23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it stopped at generation, not decisions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11094415" cy="0"/>
          </a:xfrm>
          <a:prstGeom prst="line">
            <a:avLst/>
          </a:prstGeom>
          <a:noFill/>
          <a:ln w="9525">
            <a:solidFill>
              <a:srgbClr val="2330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2860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(AI Mode / Canvas)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2286000"/>
            <a:ext cx="81226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itinerary building in Search pulling live Flights/Hotels/Maps data; agentic booking expanding to restaurants &amp; tickets, flights/hotels in progress. Gemini Gems going free to all users.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3383280"/>
            <a:ext cx="11094415" cy="0"/>
          </a:xfrm>
          <a:prstGeom prst="line">
            <a:avLst/>
          </a:prstGeom>
          <a:noFill/>
          <a:ln w="9525">
            <a:solidFill>
              <a:srgbClr val="2330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8346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Mindtrip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2834640"/>
            <a:ext cx="81226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11M+ point-of-interest database, chat-over-map planning; launched agentic flight booking (Mindtrip Flights) via Sabre/PayPal — reviewers call it the first end-to-end AI flight-booking flow.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11094415" cy="0"/>
          </a:xfrm>
          <a:prstGeom prst="line">
            <a:avLst/>
          </a:prstGeom>
          <a:noFill/>
          <a:ln w="9525">
            <a:solidFill>
              <a:srgbClr val="2330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3832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Layla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3520440" y="3383280"/>
            <a:ext cx="81226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discovery-to-booking; ranked by reviewers for live pricing with a human backup and deal-hunting (PriceLock).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4480560"/>
            <a:ext cx="11094415" cy="0"/>
          </a:xfrm>
          <a:prstGeom prst="line">
            <a:avLst/>
          </a:prstGeom>
          <a:noFill/>
          <a:ln w="9525">
            <a:solidFill>
              <a:srgbClr val="23304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9319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Booking.com AI Trip Planner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3520440" y="3931920"/>
            <a:ext cx="81226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planning with a natural-language stay filter, plus AI summaries of large volumes of property reviews.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5029200"/>
            <a:ext cx="11094415" cy="0"/>
          </a:xfrm>
          <a:prstGeom prst="line">
            <a:avLst/>
          </a:prstGeom>
          <a:noFill/>
          <a:ln w="9525">
            <a:solidFill>
              <a:srgbClr val="23304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44805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Expedia (“Romie”)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3520440" y="4480560"/>
            <a:ext cx="81226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a group chat into trip options; press coverage describes delay/weather watching and rebooking help — still rolling out.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5577840"/>
            <a:ext cx="11094415" cy="0"/>
          </a:xfrm>
          <a:prstGeom prst="line">
            <a:avLst/>
          </a:prstGeom>
          <a:noFill/>
          <a:ln w="9525">
            <a:solidFill>
              <a:srgbClr val="23304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50292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Tripadvisor AI Trip Builder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3520440" y="5029200"/>
            <a:ext cx="81226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itineraries quickly from Tripadvisor’s review corpus; reviewers caution its AI review summaries need care.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126480"/>
            <a:ext cx="11094415" cy="0"/>
          </a:xfrm>
          <a:prstGeom prst="line">
            <a:avLst/>
          </a:prstGeom>
          <a:noFill/>
          <a:ln w="9525">
            <a:solidFill>
              <a:srgbClr val="23304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55778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Wanderlog / Hopper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3520440" y="5577840"/>
            <a:ext cx="81226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Wanderlog: collaborative, map-based itinerary + expense tool with route-based AI suggestions. Hopper: price-timing prediction (buy now vs. wait), not itinerary construction.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41908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official product pages; TechCrunch, TechRadar, eWeek, fast.io &amp; unite.ai AI-travel-planner roundups (2026). Verified vs. analyst claims are distinguished in the companion blueprint.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TRIP PLANNING PLATFORM  ·  BLUEPRINT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10728655" y="65471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0362895" y="31089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3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COMPETITIVE ANALYSIS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2412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today’s products stop</a:t>
            </a:r>
            <a:endParaRPr lang="en-US" sz="2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94415" cy="3977640"/>
        </p:xfrm>
        <a:graphic>
          <a:graphicData uri="http://schemas.openxmlformats.org/drawingml/2006/table">
            <a:tbl>
              <a:tblPr/>
              <a:tblGrid>
                <a:gridCol w="4297680"/>
                <a:gridCol w="1874520"/>
                <a:gridCol w="1874520"/>
                <a:gridCol w="1874520"/>
                <a:gridCol w="2084832"/>
              </a:tblGrid>
              <a:tr h="3616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8FAFC"/>
                          </a:solidFill>
                        </a:rPr>
                        <a:t>Capability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8FAFC"/>
                          </a:solidFill>
                        </a:rPr>
                        <a:t>Mindtrip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8FAFC"/>
                          </a:solidFill>
                        </a:rPr>
                        <a:t>Layla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8FAFC"/>
                          </a:solidFill>
                        </a:rPr>
                        <a:t>Google AI Mode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8FAFC"/>
                          </a:solidFill>
                        </a:rPr>
                        <a:t>Our Platform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A"/>
                    </a:solidFill>
                  </a:tcPr>
                </a:tc>
              </a:tr>
              <a:tr h="3616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Natural-language planning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EEAD4"/>
                          </a:solidFill>
                        </a:rPr>
                        <a:t>Yes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EEAD4"/>
                          </a:solidFill>
                        </a:rPr>
                        <a:t>Yes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EEAD4"/>
                          </a:solidFill>
                        </a:rPr>
                        <a:t>Yes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EEAD4"/>
                          </a:solidFill>
                        </a:rPr>
                        <a:t>Yes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</a:tr>
              <a:tr h="3616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Multi-agent orchestration (explicit, stateful)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B85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B85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B85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EEAD4"/>
                          </a:solidFill>
                        </a:rPr>
                        <a:t>Yes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</a:tr>
              <a:tr h="3616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Live transport + hotel data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EEAD4"/>
                          </a:solidFill>
                        </a:rPr>
                        <a:t>Yes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EEAD4"/>
                          </a:solidFill>
                        </a:rPr>
                        <a:t>Yes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EEAD4"/>
                          </a:solidFill>
                        </a:rPr>
                        <a:t>Yes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EEAD4"/>
                          </a:solidFill>
                        </a:rPr>
                        <a:t>Yes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</a:tr>
              <a:tr h="3616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Constraint-solver optimization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B85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B85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B85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EEAD4"/>
                          </a:solidFill>
                        </a:rPr>
                        <a:t>Yes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</a:tr>
              <a:tr h="3616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Independent validation pass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B85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B85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B85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EEAD4"/>
                          </a:solidFill>
                        </a:rPr>
                        <a:t>Yes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</a:tr>
              <a:tr h="3616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Event-driven replanning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A623"/>
                          </a:solidFill>
                        </a:rPr>
                        <a:t>Partial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B85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B85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EEAD4"/>
                          </a:solidFill>
                        </a:rPr>
                        <a:t>Yes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</a:tr>
              <a:tr h="3616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What-if simulation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B85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B85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B85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EEAD4"/>
                          </a:solidFill>
                        </a:rPr>
                        <a:t>Yes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</a:tr>
              <a:tr h="3616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Explainable cost/time/experience trade-offs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B85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B85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B85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EEAD4"/>
                          </a:solidFill>
                        </a:rPr>
                        <a:t>Yes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</a:tr>
              <a:tr h="3616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User preference memory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EEAD4"/>
                          </a:solidFill>
                        </a:rPr>
                        <a:t>Yes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EEAD4"/>
                          </a:solidFill>
                        </a:rPr>
                        <a:t>Yes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A623"/>
                          </a:solidFill>
                        </a:rPr>
                        <a:t>Partial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EEAD4"/>
                          </a:solidFill>
                        </a:rPr>
                        <a:t>Yes (3-tier)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</a:tr>
              <a:tr h="3616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Human approval before booking/payment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A623"/>
                          </a:solidFill>
                        </a:rPr>
                        <a:t>Partial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A623"/>
                          </a:solidFill>
                        </a:rPr>
                        <a:t>Partial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A623"/>
                          </a:solidFill>
                        </a:rPr>
                        <a:t>Partial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EEAD4"/>
                          </a:solidFill>
                        </a:rPr>
                        <a:t>Yes, by design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62636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“Not documented” rows are shown as — : the capability wasn’t evidenced in official materials or independent reviews as of Sept 2026 — not a claim competitors lack it.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TRIP PLANNING PLATFORM  ·  BLUEPRINT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10728655" y="65471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0362895" y="31089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3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PRODUCT GAP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2412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isn’t generation. It’s decisions</a:t>
            </a:r>
            <a:endParaRPr lang="en-US" sz="24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constraints, kept correct over time.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11094415" cy="841248"/>
          </a:xfrm>
          <a:prstGeom prst="roundRect">
            <a:avLst>
              <a:gd name="adj" fmla="val 9783"/>
            </a:avLst>
          </a:prstGeom>
          <a:solidFill>
            <a:srgbClr val="121A2E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266090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F1626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2660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560320"/>
            <a:ext cx="99056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Cross-domain reasoning is shallow — transport, hotels, weather and budget are rarely traded off against each other explicitly inside one plan.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456432"/>
            <a:ext cx="11094415" cy="841248"/>
          </a:xfrm>
          <a:prstGeom prst="roundRect">
            <a:avLst>
              <a:gd name="adj" fmla="val 9783"/>
            </a:avLst>
          </a:prstGeom>
          <a:solidFill>
            <a:srgbClr val="121A2E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" y="364845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F1626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9808" y="3648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3547872"/>
            <a:ext cx="99056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are not independently validated before being shown to the user.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443984"/>
            <a:ext cx="11094415" cy="841248"/>
          </a:xfrm>
          <a:prstGeom prst="roundRect">
            <a:avLst>
              <a:gd name="adj" fmla="val 9783"/>
            </a:avLst>
          </a:prstGeom>
          <a:solidFill>
            <a:srgbClr val="121A2E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46360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F1626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9808" y="4636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4535424"/>
            <a:ext cx="99056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watches the trip after it’s booked — delays, cancellations and weather changes don’t trigger replanning in most tools.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5431536"/>
            <a:ext cx="11094415" cy="841248"/>
          </a:xfrm>
          <a:prstGeom prst="roundRect">
            <a:avLst>
              <a:gd name="adj" fmla="val 9783"/>
            </a:avLst>
          </a:prstGeom>
          <a:solidFill>
            <a:srgbClr val="121A2E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9808" y="56235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F1626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9808" y="5623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5522976"/>
            <a:ext cx="99056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 are hidden — tools return one plan, not cost-, time-, and experience-optimized alternatives with an explanation of what was traded away.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64808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wedge for an agentic orchestration layer — not another single-shot generator.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TRIP PLANNING PLATFORM  ·  BLUEPRINT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10728655" y="65471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0362895" y="31089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3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PRODUCT VISION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2412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chatbot that plans trips.</a:t>
            </a:r>
            <a:endParaRPr lang="en-US" sz="24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agentic decision and orchestration platform.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3246120"/>
            <a:ext cx="906742" cy="566928"/>
          </a:xfrm>
          <a:prstGeom prst="roundRect">
            <a:avLst>
              <a:gd name="adj" fmla="val 50000"/>
            </a:avLst>
          </a:prstGeom>
          <a:solidFill>
            <a:srgbClr val="132436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3246120"/>
            <a:ext cx="9067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1455382" y="324612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004022" y="3246120"/>
            <a:ext cx="906742" cy="566928"/>
          </a:xfrm>
          <a:prstGeom prst="roundRect">
            <a:avLst>
              <a:gd name="adj" fmla="val 50000"/>
            </a:avLst>
          </a:prstGeom>
          <a:solidFill>
            <a:srgbClr val="0F1626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004022" y="3246120"/>
            <a:ext cx="9067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2910764" y="324612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459404" y="3246120"/>
            <a:ext cx="906742" cy="566928"/>
          </a:xfrm>
          <a:prstGeom prst="roundRect">
            <a:avLst>
              <a:gd name="adj" fmla="val 50000"/>
            </a:avLst>
          </a:prstGeom>
          <a:solidFill>
            <a:srgbClr val="132436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59404" y="3246120"/>
            <a:ext cx="9067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4366146" y="324612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914786" y="3246120"/>
            <a:ext cx="906742" cy="566928"/>
          </a:xfrm>
          <a:prstGeom prst="roundRect">
            <a:avLst>
              <a:gd name="adj" fmla="val 50000"/>
            </a:avLst>
          </a:prstGeom>
          <a:solidFill>
            <a:srgbClr val="0F1626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914786" y="3246120"/>
            <a:ext cx="9067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5821528" y="324612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70168" y="3246120"/>
            <a:ext cx="906742" cy="566928"/>
          </a:xfrm>
          <a:prstGeom prst="roundRect">
            <a:avLst>
              <a:gd name="adj" fmla="val 50000"/>
            </a:avLst>
          </a:prstGeom>
          <a:solidFill>
            <a:srgbClr val="132436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70168" y="3246120"/>
            <a:ext cx="9067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7276910" y="324612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825550" y="3246120"/>
            <a:ext cx="906742" cy="566928"/>
          </a:xfrm>
          <a:prstGeom prst="roundRect">
            <a:avLst>
              <a:gd name="adj" fmla="val 50000"/>
            </a:avLst>
          </a:prstGeom>
          <a:solidFill>
            <a:srgbClr val="0F1626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825550" y="3246120"/>
            <a:ext cx="9067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REPLAN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8732291" y="324612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280931" y="3246120"/>
            <a:ext cx="906742" cy="566928"/>
          </a:xfrm>
          <a:prstGeom prst="roundRect">
            <a:avLst>
              <a:gd name="adj" fmla="val 50000"/>
            </a:avLst>
          </a:prstGeom>
          <a:solidFill>
            <a:srgbClr val="132436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280931" y="3246120"/>
            <a:ext cx="9067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10187673" y="324612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0736313" y="3246120"/>
            <a:ext cx="906742" cy="566928"/>
          </a:xfrm>
          <a:prstGeom prst="roundRect">
            <a:avLst>
              <a:gd name="adj" fmla="val 50000"/>
            </a:avLst>
          </a:prstGeom>
          <a:solidFill>
            <a:srgbClr val="0F1626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736313" y="3246120"/>
            <a:ext cx="9067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48640" y="4297680"/>
            <a:ext cx="11094415" cy="1417320"/>
          </a:xfrm>
          <a:prstGeom prst="roundRect">
            <a:avLst>
              <a:gd name="adj" fmla="val 5806"/>
            </a:avLst>
          </a:prstGeom>
          <a:solidFill>
            <a:srgbClr val="16203A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68680" y="4480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 STATEMENT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868680" y="4800600"/>
            <a:ext cx="104543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i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stateful, multi-agent travel decision system that combines real-world data, constraint optimization, validation, and event-driven replanning to continuously maintain a feasible, personalized trip.”</a:t>
            </a:r>
            <a:endParaRPr lang="en-US" sz="145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TRIP PLANNING PLATFORM  ·  BLUEPRINT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10728655" y="65471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0362895" y="31089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3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EXAMPLE USER JOURNEY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2412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want to plan a trip.”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1783629" cy="3200400"/>
          </a:xfrm>
          <a:prstGeom prst="roundRect">
            <a:avLst>
              <a:gd name="adj" fmla="val 4614"/>
            </a:avLst>
          </a:prstGeom>
          <a:solidFill>
            <a:srgbClr val="121A2E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514600"/>
            <a:ext cx="14178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898648"/>
            <a:ext cx="14178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383280"/>
            <a:ext cx="1417869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states an open-ended travel goal. Destination may or may not be specified yet.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2332269" y="374904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624877" y="2331720"/>
            <a:ext cx="1783629" cy="3200400"/>
          </a:xfrm>
          <a:prstGeom prst="roundRect">
            <a:avLst>
              <a:gd name="adj" fmla="val 4614"/>
            </a:avLst>
          </a:prstGeom>
          <a:solidFill>
            <a:srgbClr val="121A2E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807757" y="2514600"/>
            <a:ext cx="14178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807757" y="2898648"/>
            <a:ext cx="14178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2807757" y="3383280"/>
            <a:ext cx="1417869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“Can I use your current location?” — explicit permission, never assumed.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408505" y="374904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01113" y="2331720"/>
            <a:ext cx="1783629" cy="3200400"/>
          </a:xfrm>
          <a:prstGeom prst="roundRect">
            <a:avLst>
              <a:gd name="adj" fmla="val 4614"/>
            </a:avLst>
          </a:prstGeom>
          <a:solidFill>
            <a:srgbClr val="121A2E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83993" y="2514600"/>
            <a:ext cx="14178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883993" y="2898648"/>
            <a:ext cx="14178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ask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4883993" y="3383280"/>
            <a:ext cx="1417869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highest-value question at a time: destination/dates, then budget, then travelers…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484742" y="374904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777350" y="2331720"/>
            <a:ext cx="1783629" cy="3200400"/>
          </a:xfrm>
          <a:prstGeom prst="roundRect">
            <a:avLst>
              <a:gd name="adj" fmla="val 4614"/>
            </a:avLst>
          </a:prstGeom>
          <a:solidFill>
            <a:srgbClr val="121A2E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960230" y="2514600"/>
            <a:ext cx="14178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960230" y="2898648"/>
            <a:ext cx="14178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6960230" y="3383280"/>
            <a:ext cx="1417869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agents run in parallel once enough is known.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8560979" y="374904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853587" y="2331720"/>
            <a:ext cx="1783629" cy="3200400"/>
          </a:xfrm>
          <a:prstGeom prst="roundRect">
            <a:avLst>
              <a:gd name="adj" fmla="val 4614"/>
            </a:avLst>
          </a:prstGeom>
          <a:solidFill>
            <a:srgbClr val="16342E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036467" y="2514600"/>
            <a:ext cx="14178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9036467" y="2898648"/>
            <a:ext cx="14178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Feasible plan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9036467" y="3383280"/>
            <a:ext cx="1417869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Optimized, validated itinerary — with trade-offs shown, not just one answer.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58064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 long form. The system asks the single highest-value missing question, every turn — the same flow works whether the destination arrives first or last.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TRIP PLANNING PLATFORM  ·  BLUEPRINT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10728655" y="65471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0362895" y="31089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3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SYSTEM ARCHITECTURE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2412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stateful graph, not one giant prompt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358488" y="2331720"/>
            <a:ext cx="3474720" cy="502920"/>
          </a:xfrm>
          <a:prstGeom prst="roundRect">
            <a:avLst>
              <a:gd name="adj" fmla="val 50000"/>
            </a:avLst>
          </a:prstGeom>
          <a:solidFill>
            <a:srgbClr val="16342E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358488" y="23317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AGENT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095848" y="2834640"/>
            <a:ext cx="0" cy="320040"/>
          </a:xfrm>
          <a:prstGeom prst="line">
            <a:avLst/>
          </a:prstGeom>
          <a:noFill/>
          <a:ln w="15875">
            <a:solidFill>
              <a:srgbClr val="2330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12215" y="3154680"/>
            <a:ext cx="9367266" cy="0"/>
          </a:xfrm>
          <a:prstGeom prst="line">
            <a:avLst/>
          </a:prstGeom>
          <a:noFill/>
          <a:ln w="15875">
            <a:solidFill>
              <a:srgbClr val="2330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200400"/>
            <a:ext cx="1727149" cy="777240"/>
          </a:xfrm>
          <a:prstGeom prst="roundRect">
            <a:avLst>
              <a:gd name="adj" fmla="val 10588"/>
            </a:avLst>
          </a:prstGeom>
          <a:solidFill>
            <a:srgbClr val="16203A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03504" y="3200400"/>
            <a:ext cx="161742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22093" y="3200400"/>
            <a:ext cx="1727149" cy="777240"/>
          </a:xfrm>
          <a:prstGeom prst="roundRect">
            <a:avLst>
              <a:gd name="adj" fmla="val 10588"/>
            </a:avLst>
          </a:prstGeom>
          <a:solidFill>
            <a:srgbClr val="16203A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476957" y="3200400"/>
            <a:ext cx="161742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95546" y="3200400"/>
            <a:ext cx="1727149" cy="777240"/>
          </a:xfrm>
          <a:prstGeom prst="roundRect">
            <a:avLst>
              <a:gd name="adj" fmla="val 10588"/>
            </a:avLst>
          </a:prstGeom>
          <a:solidFill>
            <a:srgbClr val="16203A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50410" y="3200400"/>
            <a:ext cx="161742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69000" y="3200400"/>
            <a:ext cx="1727149" cy="777240"/>
          </a:xfrm>
          <a:prstGeom prst="roundRect">
            <a:avLst>
              <a:gd name="adj" fmla="val 10588"/>
            </a:avLst>
          </a:prstGeom>
          <a:solidFill>
            <a:srgbClr val="16203A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23864" y="3200400"/>
            <a:ext cx="161742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Accommodation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042453" y="3200400"/>
            <a:ext cx="1727149" cy="777240"/>
          </a:xfrm>
          <a:prstGeom prst="roundRect">
            <a:avLst>
              <a:gd name="adj" fmla="val 10588"/>
            </a:avLst>
          </a:prstGeom>
          <a:solidFill>
            <a:srgbClr val="16203A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97317" y="3200400"/>
            <a:ext cx="161742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915906" y="3200400"/>
            <a:ext cx="1727149" cy="777240"/>
          </a:xfrm>
          <a:prstGeom prst="roundRect">
            <a:avLst>
              <a:gd name="adj" fmla="val 10588"/>
            </a:avLst>
          </a:prstGeom>
          <a:solidFill>
            <a:srgbClr val="16203A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970770" y="3200400"/>
            <a:ext cx="161742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412215" y="3977640"/>
            <a:ext cx="9367266" cy="0"/>
          </a:xfrm>
          <a:prstGeom prst="line">
            <a:avLst/>
          </a:prstGeom>
          <a:noFill/>
          <a:ln w="15875">
            <a:solidFill>
              <a:srgbClr val="2330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4114800"/>
            <a:ext cx="1727149" cy="777240"/>
          </a:xfrm>
          <a:prstGeom prst="roundRect">
            <a:avLst>
              <a:gd name="adj" fmla="val 10588"/>
            </a:avLst>
          </a:prstGeom>
          <a:solidFill>
            <a:srgbClr val="16203A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03504" y="4114800"/>
            <a:ext cx="161742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422093" y="4114800"/>
            <a:ext cx="1727149" cy="777240"/>
          </a:xfrm>
          <a:prstGeom prst="roundRect">
            <a:avLst>
              <a:gd name="adj" fmla="val 10588"/>
            </a:avLst>
          </a:prstGeom>
          <a:solidFill>
            <a:srgbClr val="16203A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476957" y="4114800"/>
            <a:ext cx="161742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Safety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295546" y="4114800"/>
            <a:ext cx="1727149" cy="777240"/>
          </a:xfrm>
          <a:prstGeom prst="roundRect">
            <a:avLst>
              <a:gd name="adj" fmla="val 10588"/>
            </a:avLst>
          </a:prstGeom>
          <a:solidFill>
            <a:srgbClr val="16203A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350410" y="4114800"/>
            <a:ext cx="161742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Itinerary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69000" y="4114800"/>
            <a:ext cx="1727149" cy="777240"/>
          </a:xfrm>
          <a:prstGeom prst="roundRect">
            <a:avLst>
              <a:gd name="adj" fmla="val 10588"/>
            </a:avLst>
          </a:prstGeom>
          <a:solidFill>
            <a:srgbClr val="16342E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23864" y="4114800"/>
            <a:ext cx="161742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042453" y="4114800"/>
            <a:ext cx="1727149" cy="777240"/>
          </a:xfrm>
          <a:prstGeom prst="roundRect">
            <a:avLst>
              <a:gd name="adj" fmla="val 10588"/>
            </a:avLst>
          </a:prstGeom>
          <a:solidFill>
            <a:srgbClr val="16203A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097317" y="4114800"/>
            <a:ext cx="161742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Replanning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915906" y="4114800"/>
            <a:ext cx="1727149" cy="777240"/>
          </a:xfrm>
          <a:prstGeom prst="roundRect">
            <a:avLst>
              <a:gd name="adj" fmla="val 10588"/>
            </a:avLst>
          </a:prstGeom>
          <a:solidFill>
            <a:srgbClr val="16342E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970770" y="4114800"/>
            <a:ext cx="161742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(gated)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48640" y="5074920"/>
            <a:ext cx="11094415" cy="914400"/>
          </a:xfrm>
          <a:prstGeom prst="roundRect">
            <a:avLst>
              <a:gd name="adj" fmla="val 9000"/>
            </a:avLst>
          </a:prstGeom>
          <a:solidFill>
            <a:srgbClr val="16203A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22960" y="5230368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Pattern: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/ state machine (LangGraph). Every transition between agents is explicit, inspectable and independently testable.
</a:t>
            </a:r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FastAPI · LangGraph · Pydantic · PostgreSQL · Redis · MCP tool layer · React/Next.js frontend.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TRIP PLANNING PLATFORM  ·  BLUEPRINT</a:t>
            </a:r>
            <a:endParaRPr lang="en-US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10728655" y="65471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0362895" y="31089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3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MAIN ORCHESTRATOR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2412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brain, many hands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94360" y="2487168"/>
            <a:ext cx="82296" cy="82296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331720"/>
            <a:ext cx="107743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intent &amp; maintains structured trip state across turns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4360" y="3035808"/>
            <a:ext cx="82296" cy="82296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2880360"/>
            <a:ext cx="107743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the missing-requirement set &amp; picks the next question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94360" y="3584448"/>
            <a:ext cx="82296" cy="82296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3429000"/>
            <a:ext cx="107743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Fans specialist tasks out in parallel once minimum viable inputs exist, and fans them back in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94360" y="4133088"/>
            <a:ext cx="82296" cy="82296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8680" y="3977640"/>
            <a:ext cx="107743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conflicts between agent outputs (e.g. Transport prefers a red-eye Risk flags as high-fatigue)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94360" y="4681728"/>
            <a:ext cx="82296" cy="82296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4526280"/>
            <a:ext cx="107743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itinerary generation → validation → replanning as a closed loop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94360" y="5230368"/>
            <a:ext cx="82296" cy="82296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8680" y="5074920"/>
            <a:ext cx="107743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live-trip monitoring &amp; event dispatch once the trip is booked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5806440"/>
            <a:ext cx="11094415" cy="777240"/>
          </a:xfrm>
          <a:prstGeom prst="roundRect">
            <a:avLst>
              <a:gd name="adj" fmla="val 10588"/>
            </a:avLst>
          </a:prstGeom>
          <a:solidFill>
            <a:srgbClr val="16203A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5961888"/>
            <a:ext cx="105457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choice: graph / state-machine architecture (LangGraph), not a single autonomous prompt — every transition is explicit and inspectable, and every node is independently unit-testable.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TRIP PLANNING PLATFORM  ·  BLUEPRINT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10728655" y="65471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0362895" y="31089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3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SPECIALIST AGENTS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2412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specialists, one contract each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2622728" cy="1051560"/>
          </a:xfrm>
          <a:prstGeom prst="roundRect">
            <a:avLst>
              <a:gd name="adj" fmla="val 7826"/>
            </a:avLst>
          </a:prstGeom>
          <a:solidFill>
            <a:srgbClr val="121A2E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94944" y="2441448"/>
            <a:ext cx="233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Interview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94944" y="2752344"/>
            <a:ext cx="233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→ structured requirements; known / missing / hard / soft.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72536" y="2331720"/>
            <a:ext cx="2622728" cy="1051560"/>
          </a:xfrm>
          <a:prstGeom prst="roundRect">
            <a:avLst>
              <a:gd name="adj" fmla="val 7826"/>
            </a:avLst>
          </a:prstGeom>
          <a:solidFill>
            <a:srgbClr val="121A2E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18840" y="2441448"/>
            <a:ext cx="233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3518840" y="2752344"/>
            <a:ext cx="233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Device-approved coordinates → reverse geocode → confirmed start point.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96432" y="2331720"/>
            <a:ext cx="2622728" cy="1051560"/>
          </a:xfrm>
          <a:prstGeom prst="roundRect">
            <a:avLst>
              <a:gd name="adj" fmla="val 7826"/>
            </a:avLst>
          </a:prstGeom>
          <a:solidFill>
            <a:srgbClr val="121A2E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42736" y="2441448"/>
            <a:ext cx="233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342736" y="2752344"/>
            <a:ext cx="233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Flights, trains, buses, cars, bikes — cost, duration, transfers, buffers.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9020327" y="2331720"/>
            <a:ext cx="2622728" cy="1051560"/>
          </a:xfrm>
          <a:prstGeom prst="roundRect">
            <a:avLst>
              <a:gd name="adj" fmla="val 7826"/>
            </a:avLst>
          </a:prstGeom>
          <a:solidFill>
            <a:srgbClr val="121A2E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66631" y="2441448"/>
            <a:ext cx="233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Accommodation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9166631" y="2752344"/>
            <a:ext cx="233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Hotels/hostels/homestays — price, location, ratings, cancellation.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" y="3566160"/>
            <a:ext cx="2622728" cy="1051560"/>
          </a:xfrm>
          <a:prstGeom prst="roundRect">
            <a:avLst>
              <a:gd name="adj" fmla="val 7826"/>
            </a:avLst>
          </a:prstGeom>
          <a:solidFill>
            <a:srgbClr val="121A2E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94944" y="3675888"/>
            <a:ext cx="233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 &amp; Places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94944" y="3986784"/>
            <a:ext cx="233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Attractions, food, hours, travel time, geographic clustering.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372536" y="3566160"/>
            <a:ext cx="2622728" cy="1051560"/>
          </a:xfrm>
          <a:prstGeom prst="roundRect">
            <a:avLst>
              <a:gd name="adj" fmla="val 7826"/>
            </a:avLst>
          </a:prstGeom>
          <a:solidFill>
            <a:srgbClr val="121A2E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518840" y="3675888"/>
            <a:ext cx="233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&amp; Season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3518840" y="3986784"/>
            <a:ext cx="233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 that reshape the plan, not just describe it.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96432" y="3566160"/>
            <a:ext cx="2622728" cy="1051560"/>
          </a:xfrm>
          <a:prstGeom prst="roundRect">
            <a:avLst>
              <a:gd name="adj" fmla="val 7826"/>
            </a:avLst>
          </a:prstGeom>
          <a:solidFill>
            <a:srgbClr val="121A2E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42736" y="3675888"/>
            <a:ext cx="233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342736" y="3986784"/>
            <a:ext cx="233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totals across every spend category.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020327" y="3566160"/>
            <a:ext cx="2622728" cy="1051560"/>
          </a:xfrm>
          <a:prstGeom prst="roundRect">
            <a:avLst>
              <a:gd name="adj" fmla="val 7826"/>
            </a:avLst>
          </a:prstGeom>
          <a:solidFill>
            <a:srgbClr val="121A2E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166631" y="3675888"/>
            <a:ext cx="233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Safety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9166631" y="3986784"/>
            <a:ext cx="233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risk: transfers, remoteness, documents, buffers.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48640" y="4800600"/>
            <a:ext cx="2622728" cy="1051560"/>
          </a:xfrm>
          <a:prstGeom prst="roundRect">
            <a:avLst>
              <a:gd name="adj" fmla="val 7826"/>
            </a:avLst>
          </a:prstGeom>
          <a:solidFill>
            <a:srgbClr val="121A2E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94944" y="4910328"/>
            <a:ext cx="233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Itinerary Planner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694944" y="5221224"/>
            <a:ext cx="233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every input into one feasible day-by-day plan.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372536" y="4800600"/>
            <a:ext cx="2622728" cy="1051560"/>
          </a:xfrm>
          <a:prstGeom prst="roundRect">
            <a:avLst>
              <a:gd name="adj" fmla="val 7826"/>
            </a:avLst>
          </a:prstGeom>
          <a:solidFill>
            <a:srgbClr val="121A2E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518840" y="4910328"/>
            <a:ext cx="233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3518840" y="5221224"/>
            <a:ext cx="233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Independently checks the planner’s own output.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196432" y="4800600"/>
            <a:ext cx="2622728" cy="1051560"/>
          </a:xfrm>
          <a:prstGeom prst="roundRect">
            <a:avLst>
              <a:gd name="adj" fmla="val 7826"/>
            </a:avLst>
          </a:prstGeom>
          <a:solidFill>
            <a:srgbClr val="121A2E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342736" y="4910328"/>
            <a:ext cx="233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Replanning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6342736" y="5221224"/>
            <a:ext cx="233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repair of only the affected days.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9020327" y="4800600"/>
            <a:ext cx="2622728" cy="1051560"/>
          </a:xfrm>
          <a:prstGeom prst="roundRect">
            <a:avLst>
              <a:gd name="adj" fmla="val 7826"/>
            </a:avLst>
          </a:prstGeom>
          <a:solidFill>
            <a:srgbClr val="121A2E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166631" y="4910328"/>
            <a:ext cx="233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(gated)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9166631" y="5221224"/>
            <a:ext cx="233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Later-stage; always requires explicit human approval.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54864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TRIP PLANNING PLATFORM  ·  BLUEPRINT</a:t>
            </a:r>
            <a:endParaRPr lang="en-US" sz="850" dirty="0"/>
          </a:p>
        </p:txBody>
      </p:sp>
      <p:sp>
        <p:nvSpPr>
          <p:cNvPr id="43" name="Text 41"/>
          <p:cNvSpPr txBox="1"/>
          <p:nvPr/>
        </p:nvSpPr>
        <p:spPr>
          <a:xfrm>
            <a:off x="10728655" y="65471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0362895" y="31089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3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REQUIREMENT COLLECTION &amp; LOCATION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2412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highest-value question. Never a form.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5364328" cy="3703320"/>
          </a:xfrm>
          <a:prstGeom prst="roundRect">
            <a:avLst>
              <a:gd name="adj" fmla="val 2222"/>
            </a:avLst>
          </a:prstGeom>
          <a:solidFill>
            <a:srgbClr val="121A2E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2514600"/>
            <a:ext cx="4852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interview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9718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971800"/>
            <a:ext cx="458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 known → ask start point / location permission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3447288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3447288"/>
            <a:ext cx="458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 or flexible range next (biggest downstream impact)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" y="3922776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3922776"/>
            <a:ext cx="458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&amp; traveler count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04672" y="4398264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4398264"/>
            <a:ext cx="458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&amp; currency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04672" y="4873752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4873752"/>
            <a:ext cx="458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/ pace / interest preferences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04672" y="53492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5349240"/>
            <a:ext cx="458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stays optional, inferred, or asked opportunistically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78728" y="2331720"/>
            <a:ext cx="5364328" cy="3703320"/>
          </a:xfrm>
          <a:prstGeom prst="roundRect">
            <a:avLst>
              <a:gd name="adj" fmla="val 2222"/>
            </a:avLst>
          </a:prstGeom>
          <a:solidFill>
            <a:srgbClr val="121A2E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34760" y="2514600"/>
            <a:ext cx="4852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architecture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534760" y="29718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781648" y="2971800"/>
            <a:ext cx="458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/ mobile OS requests device permission — the LLM never accesses GPS directly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534760" y="3593592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781648" y="3593592"/>
            <a:ext cx="458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 sent to the backend only after explicit approval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534760" y="4215384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781648" y="4215384"/>
            <a:ext cx="458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Agent reverse-geocodes to a city/region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534760" y="4837176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781648" y="4837176"/>
            <a:ext cx="458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&amp; staleness checked; agent asks for confirmation when uncertain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534760" y="5504688"/>
            <a:ext cx="4852264" cy="731520"/>
          </a:xfrm>
          <a:prstGeom prst="roundRect">
            <a:avLst>
              <a:gd name="adj" fmla="val 11250"/>
            </a:avLst>
          </a:prstGeom>
          <a:solidFill>
            <a:srgbClr val="16342E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735928" y="5641848"/>
            <a:ext cx="4449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can use your current location as the starting point. Shall I use it?”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TRIP PLANNING PLATFORM  ·  BLUEPRINT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10728655" y="65471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0362895" y="31089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3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LANGGRAPH STATE MACHINE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2412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Nodes, conditional edges, bounded retries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6720840" cy="3794760"/>
          </a:xfrm>
          <a:prstGeom prst="roundRect">
            <a:avLst>
              <a:gd name="adj" fmla="val 1687"/>
            </a:avLst>
          </a:prstGeom>
          <a:solidFill>
            <a:srgbClr val="0E1524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2432304"/>
            <a:ext cx="6318504" cy="3502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B7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B7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interview_node ⇄ (loop until sufficient)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B7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parallel_research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B7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(transport, accommodation,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B7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activities, weather)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B7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budget_node → risk_node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B7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itinerary_planner_node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B7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validation_node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B7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├─ valid   → present_node → END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B7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│                (or monitoring_node)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B7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└─ invalid → replanning_node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B7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→ validation_node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B7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monitoring_node → (on event)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B7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impact_analysis_node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B7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replanning_node → validation_node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589520" y="2286000"/>
            <a:ext cx="4053535" cy="1207008"/>
          </a:xfrm>
          <a:prstGeom prst="roundRect">
            <a:avLst>
              <a:gd name="adj" fmla="val 6818"/>
            </a:avLst>
          </a:prstGeom>
          <a:solidFill>
            <a:srgbClr val="121A2E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90688" y="2414016"/>
            <a:ext cx="36511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functions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790688" y="2697480"/>
            <a:ext cx="365119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node is a pure function over TripSession + node-local input, returning a state delta — every step is replayable and unit-testable.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589520" y="3602736"/>
            <a:ext cx="4053535" cy="1207008"/>
          </a:xfrm>
          <a:prstGeom prst="roundRect">
            <a:avLst>
              <a:gd name="adj" fmla="val 6818"/>
            </a:avLst>
          </a:prstGeom>
          <a:solidFill>
            <a:srgbClr val="121A2E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90688" y="3730752"/>
            <a:ext cx="36511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edges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790688" y="4014216"/>
            <a:ext cx="365119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edges are simple predicate functions (e.g. requirements_sufficient(state) → bool), not further LLM calls, wherever the predicate is deterministic.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589520" y="4919472"/>
            <a:ext cx="4053535" cy="1207008"/>
          </a:xfrm>
          <a:prstGeom prst="roundRect">
            <a:avLst>
              <a:gd name="adj" fmla="val 6818"/>
            </a:avLst>
          </a:prstGeom>
          <a:solidFill>
            <a:srgbClr val="121A2E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90688" y="5047488"/>
            <a:ext cx="36511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retries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790688" y="5330952"/>
            <a:ext cx="365119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max of 3 validate/replan cycles prevents infinite loops; on exhaustion the unresolved issue surfaces to the user instead of looping silently.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TRIP PLANNING PLATFORM  ·  BLUEPRINT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10728655" y="65471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0362895" y="31089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3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MCP / TOOL ARCHITECTURE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2412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reason. Tools retrieve and calculate.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2636444" cy="420624"/>
          </a:xfrm>
          <a:prstGeom prst="roundRect">
            <a:avLst>
              <a:gd name="adj" fmla="val 50000"/>
            </a:avLst>
          </a:prstGeom>
          <a:solidFill>
            <a:srgbClr val="0F1626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331720"/>
            <a:ext cx="26364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get_current_location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67964" y="2331720"/>
            <a:ext cx="2636444" cy="420624"/>
          </a:xfrm>
          <a:prstGeom prst="roundRect">
            <a:avLst>
              <a:gd name="adj" fmla="val 50000"/>
            </a:avLst>
          </a:prstGeom>
          <a:solidFill>
            <a:srgbClr val="0F1626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67964" y="2331720"/>
            <a:ext cx="26364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reverse_geocode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187288" y="2331720"/>
            <a:ext cx="2636444" cy="420624"/>
          </a:xfrm>
          <a:prstGeom prst="roundRect">
            <a:avLst>
              <a:gd name="adj" fmla="val 50000"/>
            </a:avLst>
          </a:prstGeom>
          <a:solidFill>
            <a:srgbClr val="0F1626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87288" y="2331720"/>
            <a:ext cx="26364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search_routes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9006611" y="2331720"/>
            <a:ext cx="2636444" cy="420624"/>
          </a:xfrm>
          <a:prstGeom prst="roundRect">
            <a:avLst>
              <a:gd name="adj" fmla="val 50000"/>
            </a:avLst>
          </a:prstGeom>
          <a:solidFill>
            <a:srgbClr val="0F1626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006611" y="2331720"/>
            <a:ext cx="26364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search_flights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2862072"/>
            <a:ext cx="2636444" cy="420624"/>
          </a:xfrm>
          <a:prstGeom prst="roundRect">
            <a:avLst>
              <a:gd name="adj" fmla="val 50000"/>
            </a:avLst>
          </a:prstGeom>
          <a:solidFill>
            <a:srgbClr val="0F1626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2862072"/>
            <a:ext cx="26364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search_trains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367964" y="2862072"/>
            <a:ext cx="2636444" cy="420624"/>
          </a:xfrm>
          <a:prstGeom prst="roundRect">
            <a:avLst>
              <a:gd name="adj" fmla="val 50000"/>
            </a:avLst>
          </a:prstGeom>
          <a:solidFill>
            <a:srgbClr val="0F1626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367964" y="2862072"/>
            <a:ext cx="26364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search_buses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87288" y="2862072"/>
            <a:ext cx="2636444" cy="420624"/>
          </a:xfrm>
          <a:prstGeom prst="roundRect">
            <a:avLst>
              <a:gd name="adj" fmla="val 50000"/>
            </a:avLst>
          </a:prstGeom>
          <a:solidFill>
            <a:srgbClr val="0F1626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187288" y="2862072"/>
            <a:ext cx="26364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search_hotels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006611" y="2862072"/>
            <a:ext cx="2636444" cy="420624"/>
          </a:xfrm>
          <a:prstGeom prst="roundRect">
            <a:avLst>
              <a:gd name="adj" fmla="val 50000"/>
            </a:avLst>
          </a:prstGeom>
          <a:solidFill>
            <a:srgbClr val="0F1626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006611" y="2862072"/>
            <a:ext cx="26364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search_places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8640" y="3392424"/>
            <a:ext cx="2636444" cy="420624"/>
          </a:xfrm>
          <a:prstGeom prst="roundRect">
            <a:avLst>
              <a:gd name="adj" fmla="val 50000"/>
            </a:avLst>
          </a:prstGeom>
          <a:solidFill>
            <a:srgbClr val="0F1626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8640" y="3392424"/>
            <a:ext cx="26364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get_weather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367964" y="3392424"/>
            <a:ext cx="2636444" cy="420624"/>
          </a:xfrm>
          <a:prstGeom prst="roundRect">
            <a:avLst>
              <a:gd name="adj" fmla="val 50000"/>
            </a:avLst>
          </a:prstGeom>
          <a:solidFill>
            <a:srgbClr val="0F1626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367964" y="3392424"/>
            <a:ext cx="26364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get_forecast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87288" y="3392424"/>
            <a:ext cx="2636444" cy="420624"/>
          </a:xfrm>
          <a:prstGeom prst="roundRect">
            <a:avLst>
              <a:gd name="adj" fmla="val 50000"/>
            </a:avLst>
          </a:prstGeom>
          <a:solidFill>
            <a:srgbClr val="0F1626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187288" y="3392424"/>
            <a:ext cx="26364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get_exchange_rate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9006611" y="3392424"/>
            <a:ext cx="2636444" cy="420624"/>
          </a:xfrm>
          <a:prstGeom prst="roundRect">
            <a:avLst>
              <a:gd name="adj" fmla="val 50000"/>
            </a:avLst>
          </a:prstGeom>
          <a:solidFill>
            <a:srgbClr val="0F1626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006611" y="3392424"/>
            <a:ext cx="26364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calculate_route_time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4151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tool call returns the same structured contract: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4471416"/>
            <a:ext cx="11094415" cy="1417320"/>
          </a:xfrm>
          <a:prstGeom prst="roundRect">
            <a:avLst>
              <a:gd name="adj" fmla="val 4516"/>
            </a:avLst>
          </a:prstGeom>
          <a:solidFill>
            <a:srgbClr val="0E1524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49808" y="4617720"/>
            <a:ext cx="10692079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B7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B7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"status": "success",        // success | partial | failed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B7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"confidence": 0.91,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B7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"data": { ... },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B7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"sources": ["provider-name", "timestamp"],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B7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"assumptions": [],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B7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"warnings": []              // "partial" is a first-class case —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B7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                             // never silently upgraded to "success"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6071616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Principle: agents reason, tools retrieve and calculate. Anything with a deterministic right answer — distance, elapsed time, currency conversion, arithmetic — is a tool, never an LLM completion.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TRIP PLANNING PLATFORM  ·  BLUEPRINT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10728655" y="65471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0362895" y="31089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3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STATE MODEL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2412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data objects — the single source of truth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11094415" cy="3840480"/>
          </a:xfrm>
          <a:prstGeom prst="roundRect">
            <a:avLst>
              <a:gd name="adj" fmla="val 1667"/>
            </a:avLst>
          </a:prstGeom>
          <a:solidFill>
            <a:srgbClr val="0E1524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2432304"/>
            <a:ext cx="10692079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B7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TripSession(BaseModel):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B7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trip_id, user_id, origin: Optional[Location], destination: str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B7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dates: Optional[DateRange], duration_days: Optional[int]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B7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travelers: TravelerCount, budget: Optional[Budget]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B7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transport_preferences, accommodation_preferences, activities: list[str]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B7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constraints: Constraints          # hard + soft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B7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current_location: Optional[GeoPoint]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B7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status: TripStatus                # interviewing | researching | planning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B7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# | validating | replanning | live | completed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B7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AgentTask(BaseModel):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B7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task_id, trip_id, agent_name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B7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status: Literal['pending','running','success','failed']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B7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input: dict, output: Optional[dict], error: Optional[str]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B7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started_at, completed_at, latency_ms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B7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ItineraryDay(BaseModel):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B7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date, activities: list[ActivityBlock], travel_time_minutes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B7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estimated_cost: Money, weather: Optional[WeatherSnapshot]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2636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field is typed and Pydantic-validated on write — malformed agent output is rejected before it ever reaches shared state.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TRIP PLANNING PLATFORM  ·  BLUEPRINT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0728655" y="65471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0362895" y="31089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3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DATABASE SCHEMA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2412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for durable state, Redis for the hot path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5364328" cy="3794760"/>
          </a:xfrm>
          <a:prstGeom prst="roundRect">
            <a:avLst>
              <a:gd name="adj" fmla="val 2169"/>
            </a:avLst>
          </a:prstGeom>
          <a:solidFill>
            <a:srgbClr val="121A2E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86384" y="2450592"/>
            <a:ext cx="4907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— relational core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86384" y="2852928"/>
            <a:ext cx="4907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B7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trips(trip_id PK, user_id FK, destination, origin, status, created_at, updated_at)</a:t>
            </a:r>
            <a:endParaRPr lang="en-US" sz="870" dirty="0"/>
          </a:p>
        </p:txBody>
      </p:sp>
      <p:sp>
        <p:nvSpPr>
          <p:cNvPr id="9" name="Text 7"/>
          <p:cNvSpPr txBox="1"/>
          <p:nvPr/>
        </p:nvSpPr>
        <p:spPr>
          <a:xfrm>
            <a:off x="786384" y="3255264"/>
            <a:ext cx="4907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B7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trip_requirements(trip_id FK, field_name, value, is_hard_constraint, source)</a:t>
            </a:r>
            <a:endParaRPr lang="en-US" sz="870" dirty="0"/>
          </a:p>
        </p:txBody>
      </p:sp>
      <p:sp>
        <p:nvSpPr>
          <p:cNvPr id="10" name="Text 8"/>
          <p:cNvSpPr txBox="1"/>
          <p:nvPr/>
        </p:nvSpPr>
        <p:spPr>
          <a:xfrm>
            <a:off x="786384" y="3657600"/>
            <a:ext cx="4907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B7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agent_tasks(task_id PK, trip_id FK, agent_name, status, input JSONB, output JSONB, latency_ms)</a:t>
            </a:r>
            <a:endParaRPr lang="en-US" sz="870" dirty="0"/>
          </a:p>
        </p:txBody>
      </p:sp>
      <p:sp>
        <p:nvSpPr>
          <p:cNvPr id="11" name="Text 9"/>
          <p:cNvSpPr txBox="1"/>
          <p:nvPr/>
        </p:nvSpPr>
        <p:spPr>
          <a:xfrm>
            <a:off x="786384" y="4059936"/>
            <a:ext cx="4907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B7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itineraries(itinerary_id PK, trip_id FK, version, variant, is_valid, created_at)</a:t>
            </a:r>
            <a:endParaRPr lang="en-US" sz="870" dirty="0"/>
          </a:p>
        </p:txBody>
      </p:sp>
      <p:sp>
        <p:nvSpPr>
          <p:cNvPr id="12" name="Text 10"/>
          <p:cNvSpPr txBox="1"/>
          <p:nvPr/>
        </p:nvSpPr>
        <p:spPr>
          <a:xfrm>
            <a:off x="786384" y="4462272"/>
            <a:ext cx="4907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B7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itinerary_days(itinerary_id FK, day_index, date, payload JSONB)</a:t>
            </a:r>
            <a:endParaRPr lang="en-US" sz="870" dirty="0"/>
          </a:p>
        </p:txBody>
      </p:sp>
      <p:sp>
        <p:nvSpPr>
          <p:cNvPr id="13" name="Text 11"/>
          <p:cNvSpPr txBox="1"/>
          <p:nvPr/>
        </p:nvSpPr>
        <p:spPr>
          <a:xfrm>
            <a:off x="786384" y="4864608"/>
            <a:ext cx="4907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B7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validation_results(itinerary_id FK, valid bool, issues JSONB, warnings JSONB, checked_at)</a:t>
            </a:r>
            <a:endParaRPr lang="en-US" sz="870" dirty="0"/>
          </a:p>
        </p:txBody>
      </p:sp>
      <p:sp>
        <p:nvSpPr>
          <p:cNvPr id="14" name="Text 12"/>
          <p:cNvSpPr txBox="1"/>
          <p:nvPr/>
        </p:nvSpPr>
        <p:spPr>
          <a:xfrm>
            <a:off x="786384" y="5266944"/>
            <a:ext cx="4907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B7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trip_events(event_id PK, trip_id FK, event_type, payload JSONB, received_at, processed_at)</a:t>
            </a:r>
            <a:endParaRPr lang="en-US" sz="870" dirty="0"/>
          </a:p>
        </p:txBody>
      </p:sp>
      <p:sp>
        <p:nvSpPr>
          <p:cNvPr id="15" name="Text 13"/>
          <p:cNvSpPr txBox="1"/>
          <p:nvPr/>
        </p:nvSpPr>
        <p:spPr>
          <a:xfrm>
            <a:off x="786384" y="5669280"/>
            <a:ext cx="4907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B7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user_preferences(user_id FK, key, value, confidence, last_confirmed_at)</a:t>
            </a:r>
            <a:endParaRPr lang="en-US" sz="870" dirty="0"/>
          </a:p>
        </p:txBody>
      </p:sp>
      <p:sp>
        <p:nvSpPr>
          <p:cNvPr id="16" name="Shape 14"/>
          <p:cNvSpPr/>
          <p:nvPr/>
        </p:nvSpPr>
        <p:spPr>
          <a:xfrm>
            <a:off x="6278728" y="2286000"/>
            <a:ext cx="5364328" cy="3794760"/>
          </a:xfrm>
          <a:prstGeom prst="roundRect">
            <a:avLst>
              <a:gd name="adj" fmla="val 2169"/>
            </a:avLst>
          </a:prstGeom>
          <a:solidFill>
            <a:srgbClr val="121A2E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16472" y="2450592"/>
            <a:ext cx="4907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— ephemeral &amp; coordination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534760" y="2971800"/>
            <a:ext cx="82296" cy="82296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781648" y="2862072"/>
            <a:ext cx="4587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Ephemeral conversation state for the current interview turn.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534760" y="3721608"/>
            <a:ext cx="82296" cy="82296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781648" y="3611880"/>
            <a:ext cx="4587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In-flight parallel-agent fan-out / fan-in coordination — tracks which specialist tasks are still outstanding.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534760" y="4471416"/>
            <a:ext cx="82296" cy="82296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781648" y="4361688"/>
            <a:ext cx="4587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Rate-limit counters per provider and per user.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534760" y="5221224"/>
            <a:ext cx="82296" cy="82296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781648" y="5111496"/>
            <a:ext cx="4587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response cache with explicit freshness timestamps, so stale data is never served as fresh.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TRIP PLANNING PLATFORM  ·  BLUEPRINT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10728655" y="65471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CORE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0362895" y="31089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3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CONSTRAINT OPTIMIZATION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2412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planning is an optimization problem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5577840" cy="1737360"/>
          </a:xfrm>
          <a:prstGeom prst="roundRect">
            <a:avLst>
              <a:gd name="adj" fmla="val 3684"/>
            </a:avLst>
          </a:prstGeom>
          <a:solidFill>
            <a:srgbClr val="0E1524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2478024"/>
            <a:ext cx="5175504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B7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minimize: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B7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cost + travel_time + backtracking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B7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 schedule_risk + preference_penalty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B7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subject to: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B7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budget, duration, opening_hours,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B7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transport_schedules, hotel_availability,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B7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time_windows, user_constraints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46520" y="2331720"/>
            <a:ext cx="5196535" cy="1737360"/>
          </a:xfrm>
          <a:prstGeom prst="roundRect">
            <a:avLst>
              <a:gd name="adj" fmla="val 4737"/>
            </a:avLst>
          </a:prstGeom>
          <a:solidFill>
            <a:srgbClr val="121A2E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65976" y="2487168"/>
            <a:ext cx="47576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 approach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665976" y="2788920"/>
            <a:ext cx="4757623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OR-Tools (CP-SAT) or an equivalent constraint/optimization solver evaluates candidate itineraries against hard constraints and scores soft preferences. The LLM interprets and explains solver output — it never searches the solution space itself.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4251960"/>
            <a:ext cx="11094415" cy="1097280"/>
          </a:xfrm>
          <a:prstGeom prst="roundRect">
            <a:avLst>
              <a:gd name="adj" fmla="val 7500"/>
            </a:avLst>
          </a:prstGeom>
          <a:solidFill>
            <a:srgbClr val="16342E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44074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not one “best” plan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709160"/>
            <a:ext cx="10545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labeled variants — cost-optimized, time-optimized, experience-optimized — with the Itinerary Planner Agent narrating the trade-offs in plain language.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53212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Itinerary generation: build a candidate activity/transport graph per day → run the solver → attach cost, travel-time and weather annotations → emit ItineraryDay[]. Weather is structural: a severe-weather forecast reshapes the graph before scheduling, not after.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TRIP PLANNING PLATFORM  ·  BLUEPRINT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10728655" y="65471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CORE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0362895" y="31089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3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PLAN → VALIDATE → REPLAN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2412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trust the first generated itinerary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3179978" cy="1737360"/>
          </a:xfrm>
          <a:prstGeom prst="roundRect">
            <a:avLst>
              <a:gd name="adj" fmla="val 4737"/>
            </a:avLst>
          </a:prstGeom>
          <a:solidFill>
            <a:srgbClr val="121A2E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487168"/>
            <a:ext cx="28142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Itinerary Planner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834640"/>
            <a:ext cx="281421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requirements, transport, hotels, activities, weather, budget and risk into one feasible plan.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3728618" y="2331720"/>
            <a:ext cx="365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094378" y="2331720"/>
            <a:ext cx="3179978" cy="1737360"/>
          </a:xfrm>
          <a:prstGeom prst="roundRect">
            <a:avLst>
              <a:gd name="adj" fmla="val 4737"/>
            </a:avLst>
          </a:prstGeom>
          <a:solidFill>
            <a:srgbClr val="121A2E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277258" y="2487168"/>
            <a:ext cx="28142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Agent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4277258" y="2834640"/>
            <a:ext cx="281421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Independently re-derives and checks dates, times, durations, check-in windows, hours, budget totals, weather fit, geography, overlaps, buffers, data freshness.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7274357" y="2331720"/>
            <a:ext cx="365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40117" y="2331720"/>
            <a:ext cx="3179978" cy="1737360"/>
          </a:xfrm>
          <a:prstGeom prst="roundRect">
            <a:avLst>
              <a:gd name="adj" fmla="val 4737"/>
            </a:avLst>
          </a:prstGeom>
          <a:solidFill>
            <a:srgbClr val="2A1E12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822997" y="2487168"/>
            <a:ext cx="28142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Replanning Agent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7822997" y="2834640"/>
            <a:ext cx="281421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failure: impact analysis → identify affected items → repair only those → re-validate.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4343400"/>
            <a:ext cx="11094415" cy="685800"/>
          </a:xfrm>
          <a:prstGeom prst="roundRect">
            <a:avLst>
              <a:gd name="adj" fmla="val 9333"/>
            </a:avLst>
          </a:prstGeom>
          <a:solidFill>
            <a:srgbClr val="0E1524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9808" y="4489704"/>
            <a:ext cx="10692079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B7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Validator output:  { "valid": true, "issues": [], "warnings": [] }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2120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false result includes structured issues (blocking) separately from warnings (non-blocking), so the Replanning Agent knows exactly what must change versus what’s merely suboptimal. Full regeneration is a last resort — only when the affected surface exceeds a threshold (destination change, infeasible budget cut).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TRIP PLANNING PLATFORM  ·  BLUEPRINT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10728655" y="65471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LAYER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0362895" y="31089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3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· LIVE MONITORING &amp; EVENT ARCHITECTURE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2412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 keeps working after it’s booked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3576218" cy="365760"/>
          </a:xfrm>
          <a:prstGeom prst="roundRect">
            <a:avLst>
              <a:gd name="adj" fmla="val 50000"/>
            </a:avLst>
          </a:prstGeom>
          <a:solidFill>
            <a:srgbClr val="2A1E12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286000"/>
            <a:ext cx="35762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FLIGHT_DELAYED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07738" y="2286000"/>
            <a:ext cx="3576218" cy="365760"/>
          </a:xfrm>
          <a:prstGeom prst="roundRect">
            <a:avLst>
              <a:gd name="adj" fmla="val 50000"/>
            </a:avLst>
          </a:prstGeom>
          <a:solidFill>
            <a:srgbClr val="2A1E12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07738" y="2286000"/>
            <a:ext cx="35762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WEATHER_CHANGED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066837" y="2286000"/>
            <a:ext cx="3576218" cy="365760"/>
          </a:xfrm>
          <a:prstGeom prst="roundRect">
            <a:avLst>
              <a:gd name="adj" fmla="val 50000"/>
            </a:avLst>
          </a:prstGeom>
          <a:solidFill>
            <a:srgbClr val="2A1E12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66837" y="2286000"/>
            <a:ext cx="35762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HOTEL_UNAVAILABLE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743200"/>
            <a:ext cx="3576218" cy="365760"/>
          </a:xfrm>
          <a:prstGeom prst="roundRect">
            <a:avLst>
              <a:gd name="adj" fmla="val 50000"/>
            </a:avLst>
          </a:prstGeom>
          <a:solidFill>
            <a:srgbClr val="2A1E12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2743200"/>
            <a:ext cx="35762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ACTIVITY_CANCELLED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07738" y="2743200"/>
            <a:ext cx="3576218" cy="365760"/>
          </a:xfrm>
          <a:prstGeom prst="roundRect">
            <a:avLst>
              <a:gd name="adj" fmla="val 50000"/>
            </a:avLst>
          </a:prstGeom>
          <a:solidFill>
            <a:srgbClr val="2A1E12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07738" y="2743200"/>
            <a:ext cx="35762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USER_LATE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066837" y="2743200"/>
            <a:ext cx="3576218" cy="365760"/>
          </a:xfrm>
          <a:prstGeom prst="roundRect">
            <a:avLst>
              <a:gd name="adj" fmla="val 50000"/>
            </a:avLst>
          </a:prstGeom>
          <a:solidFill>
            <a:srgbClr val="2A1E12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66837" y="2743200"/>
            <a:ext cx="35762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BUDGET_CHANGED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337560"/>
            <a:ext cx="1666189" cy="685800"/>
          </a:xfrm>
          <a:prstGeom prst="roundRect">
            <a:avLst>
              <a:gd name="adj" fmla="val 50000"/>
            </a:avLst>
          </a:prstGeom>
          <a:solidFill>
            <a:srgbClr val="16342E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3337560"/>
            <a:ext cx="166618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arrives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2214829" y="3337560"/>
            <a:ext cx="2194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434285" y="3337560"/>
            <a:ext cx="1666189" cy="685800"/>
          </a:xfrm>
          <a:prstGeom prst="roundRect">
            <a:avLst>
              <a:gd name="adj" fmla="val 50000"/>
            </a:avLst>
          </a:prstGeom>
          <a:solidFill>
            <a:srgbClr val="0F1626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434285" y="3337560"/>
            <a:ext cx="166618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4100474" y="3337560"/>
            <a:ext cx="2194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19930" y="3337560"/>
            <a:ext cx="1666189" cy="685800"/>
          </a:xfrm>
          <a:prstGeom prst="roundRect">
            <a:avLst>
              <a:gd name="adj" fmla="val 50000"/>
            </a:avLst>
          </a:prstGeom>
          <a:solidFill>
            <a:srgbClr val="0F1626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319930" y="3337560"/>
            <a:ext cx="166618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Affected items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5986120" y="3337560"/>
            <a:ext cx="2194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05576" y="3337560"/>
            <a:ext cx="1666189" cy="685800"/>
          </a:xfrm>
          <a:prstGeom prst="roundRect">
            <a:avLst>
              <a:gd name="adj" fmla="val 50000"/>
            </a:avLst>
          </a:prstGeom>
          <a:solidFill>
            <a:srgbClr val="0F1626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205576" y="3337560"/>
            <a:ext cx="166618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replan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7871765" y="3337560"/>
            <a:ext cx="2194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091221" y="3337560"/>
            <a:ext cx="1666189" cy="685800"/>
          </a:xfrm>
          <a:prstGeom prst="roundRect">
            <a:avLst>
              <a:gd name="adj" fmla="val 50000"/>
            </a:avLst>
          </a:prstGeom>
          <a:solidFill>
            <a:srgbClr val="0F1626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091221" y="3337560"/>
            <a:ext cx="166618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Re-validate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9757410" y="3337560"/>
            <a:ext cx="2194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976866" y="3337560"/>
            <a:ext cx="1666189" cy="685800"/>
          </a:xfrm>
          <a:prstGeom prst="roundRect">
            <a:avLst>
              <a:gd name="adj" fmla="val 50000"/>
            </a:avLst>
          </a:prstGeom>
          <a:solidFill>
            <a:srgbClr val="0F1626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976866" y="3337560"/>
            <a:ext cx="166618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notified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42519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is event-driven, not polling-driven — the orchestrator reacts only when something actually changes, keeping API cost and noise low.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4800600"/>
            <a:ext cx="11094415" cy="1280160"/>
          </a:xfrm>
          <a:prstGeom prst="roundRect">
            <a:avLst>
              <a:gd name="adj" fmla="val 6429"/>
            </a:avLst>
          </a:prstGeom>
          <a:solidFill>
            <a:srgbClr val="121A2E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86384" y="4956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architecture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786384" y="5257800"/>
            <a:ext cx="1061892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Events land in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7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trip_events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a typed event_type and JSON payload.
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lightweight dispatcher routes each event type to the impact-analysis subroutine appropriate for it (a flight delay touches the transport leg and everything downstream; a hotel cancellation touches only that night’s lodging).
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Idempotency: each event is processed at most once (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7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processed_at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guard) so retried webhooks never trigger duplicate replans.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TRIP PLANNING PLATFORM  ·  BLUEPRINT</a:t>
            </a:r>
            <a:endParaRPr lang="en-US" sz="850" dirty="0"/>
          </a:p>
        </p:txBody>
      </p:sp>
      <p:sp>
        <p:nvSpPr>
          <p:cNvPr id="40" name="Text 38"/>
          <p:cNvSpPr txBox="1"/>
          <p:nvPr/>
        </p:nvSpPr>
        <p:spPr>
          <a:xfrm>
            <a:off x="10728655" y="65471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LAYER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0362895" y="31089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3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· WHAT-IF SIMULATION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2412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traveler test a decision before making it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5410048" cy="914400"/>
          </a:xfrm>
          <a:prstGeom prst="roundRect">
            <a:avLst>
              <a:gd name="adj" fmla="val 9000"/>
            </a:avLst>
          </a:prstGeom>
          <a:solidFill>
            <a:srgbClr val="121A2E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377440"/>
            <a:ext cx="4861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if I reduce my budget to ₹60,000?”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33008" y="2377440"/>
            <a:ext cx="5410048" cy="914400"/>
          </a:xfrm>
          <a:prstGeom prst="roundRect">
            <a:avLst>
              <a:gd name="adj" fmla="val 9000"/>
            </a:avLst>
          </a:prstGeom>
          <a:solidFill>
            <a:srgbClr val="121A2E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07328" y="2377440"/>
            <a:ext cx="4861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if I add one more day?”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520440"/>
            <a:ext cx="5410048" cy="914400"/>
          </a:xfrm>
          <a:prstGeom prst="roundRect">
            <a:avLst>
              <a:gd name="adj" fmla="val 9000"/>
            </a:avLst>
          </a:prstGeom>
          <a:solidFill>
            <a:srgbClr val="121A2E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3520440"/>
            <a:ext cx="4861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if I take the train instead?”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233008" y="3520440"/>
            <a:ext cx="5410048" cy="914400"/>
          </a:xfrm>
          <a:prstGeom prst="roundRect">
            <a:avLst>
              <a:gd name="adj" fmla="val 9000"/>
            </a:avLst>
          </a:prstGeom>
          <a:solidFill>
            <a:srgbClr val="121A2E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07328" y="3520440"/>
            <a:ext cx="4861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if my flight is delayed by 3 hours?”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892040"/>
            <a:ext cx="11094415" cy="1051560"/>
          </a:xfrm>
          <a:prstGeom prst="roundRect">
            <a:avLst>
              <a:gd name="adj" fmla="val 7826"/>
            </a:avLst>
          </a:prstGeom>
          <a:solidFill>
            <a:srgbClr val="16203A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507492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simulation re-runs the affected agents and the solver against a modified constraint set, then returns a comparison — without touching the live, committed plan until the user confirms.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TRIP PLANNING PLATFORM  ·  BLUEPRINT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10728655" y="65471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0362895" y="31089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3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· MEMORY ARCHITECTURE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2412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memory scopes, never mixed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3515258" cy="2377440"/>
          </a:xfrm>
          <a:prstGeom prst="roundRect">
            <a:avLst>
              <a:gd name="adj" fmla="val 3462"/>
            </a:avLst>
          </a:prstGeom>
          <a:solidFill>
            <a:srgbClr val="121A2E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68096" y="2578608"/>
            <a:ext cx="307634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68096" y="3108960"/>
            <a:ext cx="307634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conversation turn context only — discarded at session end.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38218" y="2377440"/>
            <a:ext cx="3515258" cy="2377440"/>
          </a:xfrm>
          <a:prstGeom prst="roundRect">
            <a:avLst>
              <a:gd name="adj" fmla="val 3462"/>
            </a:avLst>
          </a:prstGeom>
          <a:solidFill>
            <a:srgbClr val="121A2E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57674" y="2578608"/>
            <a:ext cx="307634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memory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57674" y="3108960"/>
            <a:ext cx="307634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specific to the active TripSession — persists for the life of the trip.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27797" y="2377440"/>
            <a:ext cx="3515258" cy="2377440"/>
          </a:xfrm>
          <a:prstGeom prst="roundRect">
            <a:avLst>
              <a:gd name="adj" fmla="val 3462"/>
            </a:avLst>
          </a:prstGeom>
          <a:solidFill>
            <a:srgbClr val="121A2E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47253" y="2578608"/>
            <a:ext cx="307634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preference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347253" y="3108960"/>
            <a:ext cx="307634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cross-trip traits: “prefers mid-range hotels,” “prefers morning departures,” “into photography.” Written only when a preference is confirmed — never from a single inference.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0749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Preferences are stored as (user_id, key, value, confidence, last_confirmed_at) — confidence lets the Orchestrator distinguish a settled habit from a one-off guess before it feeds the interview or the solver.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TRIP PLANNING PLATFORM  ·  BLUEPRINT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10728655" y="65471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0362895" y="31089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3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· API DESIGN &amp; CONTRACTS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2412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small, explicit surface over a stateful trip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5364328" cy="3840480"/>
          </a:xfrm>
          <a:prstGeom prst="roundRect">
            <a:avLst>
              <a:gd name="adj" fmla="val 2143"/>
            </a:avLst>
          </a:prstGeom>
          <a:solidFill>
            <a:srgbClr val="121A2E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45059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450592"/>
            <a:ext cx="431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/trips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642616"/>
            <a:ext cx="431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trip session from an initial utterance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86664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2866644"/>
            <a:ext cx="431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/trips/{id}/messages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3058668"/>
            <a:ext cx="431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the interview / send user reply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328269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3282696"/>
            <a:ext cx="431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/trips/{id}/location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3474720"/>
            <a:ext cx="431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device-approved coordinates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36987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3698748"/>
            <a:ext cx="431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/trips/{id}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3890772"/>
            <a:ext cx="431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TripSession state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41148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1417320" y="4114800"/>
            <a:ext cx="431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/trips/{id}/plan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4306824"/>
            <a:ext cx="431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planning once requirements suffice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453085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1417320" y="4530852"/>
            <a:ext cx="431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/trips/{id}/itineraries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1417320" y="4722876"/>
            <a:ext cx="431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variants (cost / time / experience)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731520" y="494690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1417320" y="4946904"/>
            <a:ext cx="431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/trips/{id}/what-if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1417320" y="5138928"/>
            <a:ext cx="431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a constraint change, non-destructive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731520" y="536295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1417320" y="5362956"/>
            <a:ext cx="431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/trips/{id}/events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1417320" y="5554980"/>
            <a:ext cx="431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a live event (flight delay, etc.)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731520" y="577900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1417320" y="5779008"/>
            <a:ext cx="431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/trips/{id}/approve-booking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1417320" y="5971032"/>
            <a:ext cx="431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human approval gate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278728" y="2286000"/>
            <a:ext cx="5364328" cy="1828800"/>
          </a:xfrm>
          <a:prstGeom prst="roundRect">
            <a:avLst>
              <a:gd name="adj" fmla="val 3500"/>
            </a:avLst>
          </a:prstGeom>
          <a:solidFill>
            <a:srgbClr val="0E1524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79896" y="2432304"/>
            <a:ext cx="4961992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B7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Constraints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B7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B7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"hard": { "budget_max": 80000,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B7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"currency": "INR",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B7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"duration_days": 7,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B7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"travelers": 2,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B7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"max_transfers": 1 },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B7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"soft": { "prefer_morning_travel": true,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B7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"prefer_scenic_route": true }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B7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278728" y="4251960"/>
            <a:ext cx="5364328" cy="1874520"/>
          </a:xfrm>
          <a:prstGeom prst="roundRect">
            <a:avLst>
              <a:gd name="adj" fmla="val 3415"/>
            </a:avLst>
          </a:prstGeom>
          <a:solidFill>
            <a:srgbClr val="0E1524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479896" y="4398264"/>
            <a:ext cx="4961992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B7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Validation result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B7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B7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"valid": false,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B7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"issues": [{ "code": "HOTEL_CHECKIN_CONFLICT",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B7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"day": 3,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B7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"detail": "Arrival 23:40, check-in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B7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closes 22:00" }],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B7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"warnings": [{ "code": "WEATHER_LOW_CONFIDENCE",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B7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"day": 5 }]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B7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TRIP PLANNING PLATFORM  ·  BLUEPRINT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10728655" y="65471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0362895" y="31089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3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· ERROR HANDLING &amp; RESILIENCE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2412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to degrade gracefully, never silently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5410048" cy="1280160"/>
          </a:xfrm>
          <a:prstGeom prst="roundRect">
            <a:avLst>
              <a:gd name="adj" fmla="val 6429"/>
            </a:avLst>
          </a:prstGeom>
          <a:solidFill>
            <a:srgbClr val="121A2E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2587752"/>
            <a:ext cx="82296" cy="822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87552" y="2478024"/>
            <a:ext cx="472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86384" y="2834640"/>
            <a:ext cx="493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backoff for transient provider failures.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33008" y="2331720"/>
            <a:ext cx="5410048" cy="1280160"/>
          </a:xfrm>
          <a:prstGeom prst="roundRect">
            <a:avLst>
              <a:gd name="adj" fmla="val 6429"/>
            </a:avLst>
          </a:prstGeom>
          <a:solidFill>
            <a:srgbClr val="121A2E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70752" y="2587752"/>
            <a:ext cx="82296" cy="822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671920" y="2478024"/>
            <a:ext cx="472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Timeouts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470752" y="2834640"/>
            <a:ext cx="493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tool call, with a hard ceiling on total planning latency.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5410048" cy="1280160"/>
          </a:xfrm>
          <a:prstGeom prst="roundRect">
            <a:avLst>
              <a:gd name="adj" fmla="val 6429"/>
            </a:avLst>
          </a:prstGeom>
          <a:solidFill>
            <a:srgbClr val="121A2E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6384" y="4050792"/>
            <a:ext cx="82296" cy="822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87552" y="3941064"/>
            <a:ext cx="472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fallbacks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786384" y="4297680"/>
            <a:ext cx="493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secondary data source per capability where available.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33008" y="3794760"/>
            <a:ext cx="5410048" cy="1280160"/>
          </a:xfrm>
          <a:prstGeom prst="roundRect">
            <a:avLst>
              <a:gd name="adj" fmla="val 6429"/>
            </a:avLst>
          </a:prstGeom>
          <a:solidFill>
            <a:srgbClr val="121A2E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70752" y="4050792"/>
            <a:ext cx="82296" cy="822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671920" y="3941064"/>
            <a:ext cx="472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Freshness-aware caching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470752" y="4297680"/>
            <a:ext cx="493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freshness timestamps; stale cache is served only with a warnings flag — never silently as fresh.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5257800"/>
            <a:ext cx="5410048" cy="1280160"/>
          </a:xfrm>
          <a:prstGeom prst="roundRect">
            <a:avLst>
              <a:gd name="adj" fmla="val 6429"/>
            </a:avLst>
          </a:prstGeom>
          <a:solidFill>
            <a:srgbClr val="121A2E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86384" y="5513832"/>
            <a:ext cx="82296" cy="822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87552" y="5404104"/>
            <a:ext cx="472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outputs everywhere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786384" y="5760720"/>
            <a:ext cx="493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validation rejects malformed agent output before it reaches shared state.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33008" y="5257800"/>
            <a:ext cx="5410048" cy="1280160"/>
          </a:xfrm>
          <a:prstGeom prst="roundRect">
            <a:avLst>
              <a:gd name="adj" fmla="val 6429"/>
            </a:avLst>
          </a:prstGeom>
          <a:solidFill>
            <a:srgbClr val="121A2E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70752" y="5513832"/>
            <a:ext cx="82296" cy="822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671920" y="5404104"/>
            <a:ext cx="472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degradation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6470752" y="5760720"/>
            <a:ext cx="493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specialist agent fails, the Orchestrator proceeds with reduced confidence and a visible warning rather than blocking the whole plan.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TRIP PLANNING PLATFORM  ·  BLUEPRINT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10728655" y="65471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OPS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0362895" y="31089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3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· SECURITY &amp; HUMAN-IN-THE-LOOP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2412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 stops at the wallet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5410048" cy="960120"/>
          </a:xfrm>
          <a:prstGeom prst="roundRect">
            <a:avLst>
              <a:gd name="adj" fmla="val 8571"/>
            </a:avLst>
          </a:prstGeom>
          <a:solidFill>
            <a:srgbClr val="121A2E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2679192"/>
            <a:ext cx="82296" cy="82296"/>
          </a:xfrm>
          <a:prstGeom prst="ellipse">
            <a:avLst/>
          </a:prstGeom>
          <a:solidFill>
            <a:srgbClr val="5B6B8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2514600"/>
            <a:ext cx="47242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device/browser location permission — never implicit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33008" y="2423160"/>
            <a:ext cx="5410048" cy="960120"/>
          </a:xfrm>
          <a:prstGeom prst="roundRect">
            <a:avLst>
              <a:gd name="adj" fmla="val 8571"/>
            </a:avLst>
          </a:prstGeom>
          <a:solidFill>
            <a:srgbClr val="121A2E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70752" y="2679192"/>
            <a:ext cx="82296" cy="82296"/>
          </a:xfrm>
          <a:prstGeom prst="ellipse">
            <a:avLst/>
          </a:prstGeom>
          <a:solidFill>
            <a:srgbClr val="5B6B8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90208" y="2514600"/>
            <a:ext cx="47242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minimization — only what’s needed for the current planning stage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584448"/>
            <a:ext cx="5410048" cy="960120"/>
          </a:xfrm>
          <a:prstGeom prst="roundRect">
            <a:avLst>
              <a:gd name="adj" fmla="val 8571"/>
            </a:avLst>
          </a:prstGeom>
          <a:solidFill>
            <a:srgbClr val="121A2E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6384" y="3840480"/>
            <a:ext cx="82296" cy="82296"/>
          </a:xfrm>
          <a:prstGeom prst="ellipse">
            <a:avLst/>
          </a:prstGeom>
          <a:solidFill>
            <a:srgbClr val="5B6B8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05840" y="3675888"/>
            <a:ext cx="47242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API key management &amp; tool permission boundaries per agent role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33008" y="3584448"/>
            <a:ext cx="5410048" cy="960120"/>
          </a:xfrm>
          <a:prstGeom prst="roundRect">
            <a:avLst>
              <a:gd name="adj" fmla="val 8571"/>
            </a:avLst>
          </a:prstGeom>
          <a:solidFill>
            <a:srgbClr val="121A2E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70752" y="3840480"/>
            <a:ext cx="82296" cy="82296"/>
          </a:xfrm>
          <a:prstGeom prst="ellipse">
            <a:avLst/>
          </a:prstGeom>
          <a:solidFill>
            <a:srgbClr val="5B6B8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690208" y="3675888"/>
            <a:ext cx="47242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Prompt-injection protection on any untrusted external content (scraped reviews, web pages)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745736"/>
            <a:ext cx="5410048" cy="960120"/>
          </a:xfrm>
          <a:prstGeom prst="roundRect">
            <a:avLst>
              <a:gd name="adj" fmla="val 8571"/>
            </a:avLst>
          </a:prstGeom>
          <a:solidFill>
            <a:srgbClr val="121A2E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86384" y="5001768"/>
            <a:ext cx="100584" cy="100584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05840" y="4837176"/>
            <a:ext cx="47242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autonomous financial transactions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33008" y="4745736"/>
            <a:ext cx="5410048" cy="960120"/>
          </a:xfrm>
          <a:prstGeom prst="roundRect">
            <a:avLst>
              <a:gd name="adj" fmla="val 8571"/>
            </a:avLst>
          </a:prstGeom>
          <a:solidFill>
            <a:srgbClr val="121A2E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70752" y="5001768"/>
            <a:ext cx="100584" cy="100584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90208" y="4837176"/>
            <a:ext cx="47242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Explicit, itemized human approval required before any booking or payment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TRIP PLANNING PLATFORM  ·  BLUEPRINT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10728655" y="65471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OPS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0362895" y="31089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3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· OBSERVABILITY &amp; EVALUATION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2412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can’t be measured, it can’t be trusted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8600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tree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5364328" cy="1965960"/>
          </a:xfrm>
          <a:prstGeom prst="roundRect">
            <a:avLst>
              <a:gd name="adj" fmla="val 3256"/>
            </a:avLst>
          </a:prstGeom>
          <a:solidFill>
            <a:srgbClr val="0E1524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2752344"/>
            <a:ext cx="4961992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B7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Trip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B7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├─ Orchestrator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B7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├─ Requirement Agent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B7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├─ Transport Agent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B7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│    ├─ Flight Tool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B7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│    └─ Rail Tool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B7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├─ Hotel / Weather / Activities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B7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├─ Itinerary Agent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B7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└─ Validator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709160"/>
            <a:ext cx="5364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per node: latency, token usage, cost, tool-call count, retries, failures, validation-failure rate, replanning frequency, recovery success rate, constraint-satisfaction rate.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278728" y="228600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benchmark — 14 scenarios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78728" y="2606040"/>
            <a:ext cx="5364328" cy="1417320"/>
          </a:xfrm>
          <a:prstGeom prst="roundRect">
            <a:avLst>
              <a:gd name="adj" fmla="val 5806"/>
            </a:avLst>
          </a:prstGeom>
          <a:solidFill>
            <a:srgbClr val="121A2E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79896" y="2761488"/>
            <a:ext cx="49619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Budget, luxury, family, solo trips · flexible dates · train-only · flight-only · weather disruption · flight delay · hotel cancellation · budget reduction · added travel day · destination change mid-planning · provider API failure.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78728" y="4160520"/>
            <a:ext cx="5364328" cy="1463040"/>
          </a:xfrm>
          <a:prstGeom prst="roundRect">
            <a:avLst>
              <a:gd name="adj" fmla="val 5625"/>
            </a:avLst>
          </a:prstGeom>
          <a:solidFill>
            <a:srgbClr val="16203A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79896" y="4315968"/>
            <a:ext cx="49619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requirement-completion rate, constraint-satisfaction rate, factual grounding, itinerary feasibility, budget accuracy (recomputed vs. reported), API efficiency, end-to-end latency, replanning success rate, recovery rate — deterministic assertions wherever possible.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TRIP PLANNING PLATFORM  ·  BLUEPRINT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10728655" y="65471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0362895" y="31089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3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· TESTING STRATEGY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2412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test layers, each catching a different failure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11094415" cy="749808"/>
          </a:xfrm>
          <a:prstGeom prst="roundRect">
            <a:avLst>
              <a:gd name="adj" fmla="val 10976"/>
            </a:avLst>
          </a:prstGeom>
          <a:solidFill>
            <a:srgbClr val="121A2E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54203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0F1626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542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46888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069080" y="2468880"/>
            <a:ext cx="72996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agent, mocking tool responses to assert routing and output-contract shape.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273552"/>
            <a:ext cx="11094415" cy="749808"/>
          </a:xfrm>
          <a:prstGeom prst="roundRect">
            <a:avLst>
              <a:gd name="adj" fmla="val 10976"/>
            </a:avLst>
          </a:prstGeom>
          <a:solidFill>
            <a:srgbClr val="121A2E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343814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0F1626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438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36499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tests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069080" y="3364992"/>
            <a:ext cx="72996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MCP tool — schema in/out, error shapes.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169664"/>
            <a:ext cx="11094415" cy="749808"/>
          </a:xfrm>
          <a:prstGeom prst="roundRect">
            <a:avLst>
              <a:gd name="adj" fmla="val 10976"/>
            </a:avLst>
          </a:prstGeom>
          <a:solidFill>
            <a:srgbClr val="121A2E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4334256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0F1626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43342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4261104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Golden-path integration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069080" y="4261104"/>
            <a:ext cx="72996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14 evaluation scenarios as fixtures end-to-end.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5065776"/>
            <a:ext cx="11094415" cy="749808"/>
          </a:xfrm>
          <a:prstGeom prst="roundRect">
            <a:avLst>
              <a:gd name="adj" fmla="val 10976"/>
            </a:avLst>
          </a:prstGeom>
          <a:solidFill>
            <a:srgbClr val="121A2E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523036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0F1626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" y="5230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325880" y="5157216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Chaos tests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4069080" y="5157216"/>
            <a:ext cx="72996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provider timeouts and malformed responses to verify graceful degradation, not crashes.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5961888"/>
            <a:ext cx="11094415" cy="749808"/>
          </a:xfrm>
          <a:prstGeom prst="roundRect">
            <a:avLst>
              <a:gd name="adj" fmla="val 10976"/>
            </a:avLst>
          </a:prstGeom>
          <a:solidFill>
            <a:srgbClr val="121A2E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1520" y="6126480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0F1626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31520" y="6126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1325880" y="605332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Replanning regression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4069080" y="6053328"/>
            <a:ext cx="72996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Asserts that a replan touches only the expected slice of the itinerary — catches accidental full-regeneration bugs.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TRIP PLANNING PLATFORM  ·  BLUEPRINT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10728655" y="65471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0362895" y="31089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3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· DEPLOYMENT &amp; INFRASTRUCTURE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2412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services, resumable state, safe rollouts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5364328" cy="3840480"/>
          </a:xfrm>
          <a:prstGeom prst="roundRect">
            <a:avLst>
              <a:gd name="adj" fmla="val 2143"/>
            </a:avLst>
          </a:prstGeom>
          <a:solidFill>
            <a:srgbClr val="121A2E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2578608"/>
            <a:ext cx="82296" cy="82296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2459736"/>
            <a:ext cx="4651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FastAPI instances behind a load balancer; LangGraph execution state persisted in PostgreSQL/Redis so any instance can resume a trip.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86384" y="3419856"/>
            <a:ext cx="82296" cy="82296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300984"/>
            <a:ext cx="4651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workers for event ingestion and long-running research fan-out.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86384" y="4261104"/>
            <a:ext cx="82296" cy="82296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05840" y="4142232"/>
            <a:ext cx="4651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Feature-flagged rollout for the Booking Agent given its elevated risk profile.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86384" y="5102352"/>
            <a:ext cx="82296" cy="82296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05840" y="4983480"/>
            <a:ext cx="4651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Blue/green deploys with contract-test gating before promoting a new agent version.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278728" y="228600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layout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78728" y="2606040"/>
            <a:ext cx="5364328" cy="3520440"/>
          </a:xfrm>
          <a:prstGeom prst="roundRect">
            <a:avLst>
              <a:gd name="adj" fmla="val 1818"/>
            </a:avLst>
          </a:prstGeom>
          <a:solidFill>
            <a:srgbClr val="0E1524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79896" y="2752344"/>
            <a:ext cx="4961992" cy="3227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B7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trip-planner/</a:t>
            </a:r>
            <a:endParaRPr lang="en-US" sz="103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B7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apps/</a:t>
            </a:r>
            <a:endParaRPr lang="en-US" sz="103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B7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├─ api/          # FastAPI app, routers</a:t>
            </a:r>
            <a:endParaRPr lang="en-US" sz="103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B7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└─ web/          # React/Next.js frontend</a:t>
            </a:r>
            <a:endParaRPr lang="en-US" sz="103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B7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orchestrator/</a:t>
            </a:r>
            <a:endParaRPr lang="en-US" sz="103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B7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├─ graph.py      # LangGraph definition</a:t>
            </a:r>
            <a:endParaRPr lang="en-US" sz="103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B7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└─ state.py      # TripSession, AgentTask</a:t>
            </a:r>
            <a:endParaRPr lang="en-US" sz="103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B7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agents/          # 12 specialist agents</a:t>
            </a:r>
            <a:endParaRPr lang="en-US" sz="103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B7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tools/           # MCP tool implementations</a:t>
            </a:r>
            <a:endParaRPr lang="en-US" sz="103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B7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solver/          # OR-Tools constraint model</a:t>
            </a:r>
            <a:endParaRPr lang="en-US" sz="103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B7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db/              # migrations, schema</a:t>
            </a:r>
            <a:endParaRPr lang="en-US" sz="103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B7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evaluation/      # 14-scenario benchmark harness</a:t>
            </a:r>
            <a:endParaRPr lang="en-US" sz="103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B7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infra/</a:t>
            </a:r>
            <a:endParaRPr lang="en-US" sz="103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TRIP PLANNING PLATFORM  ·  BLUEPRINT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10728655" y="65471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0362895" y="31089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3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· IMPLEMENTATION ROADMAP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2412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MVP to a live, adaptive platform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2636444" cy="3566160"/>
          </a:xfrm>
          <a:prstGeom prst="roundRect">
            <a:avLst>
              <a:gd name="adj" fmla="val 3121"/>
            </a:avLst>
          </a:prstGeom>
          <a:solidFill>
            <a:srgbClr val="16342E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560320"/>
            <a:ext cx="22706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MVP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200400"/>
            <a:ext cx="227068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+ Requirement, Location, Transport, Accommodation, Itinerary Planner agents. Single-shot planning, no live monitoring. Goal: prove the interview → research → plan loop end-to-end.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67964" y="2377440"/>
            <a:ext cx="2636444" cy="3566160"/>
          </a:xfrm>
          <a:prstGeom prst="roundRect">
            <a:avLst>
              <a:gd name="adj" fmla="val 3121"/>
            </a:avLst>
          </a:prstGeom>
          <a:solidFill>
            <a:srgbClr val="121A2E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50844" y="2560320"/>
            <a:ext cx="22706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Trust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550844" y="3200400"/>
            <a:ext cx="227068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Agent, deterministic Budget engine, structured tool contracts, full observability.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87288" y="2377440"/>
            <a:ext cx="2636444" cy="3566160"/>
          </a:xfrm>
          <a:prstGeom prst="roundRect">
            <a:avLst>
              <a:gd name="adj" fmla="val 3121"/>
            </a:avLst>
          </a:prstGeom>
          <a:solidFill>
            <a:srgbClr val="121A2E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70168" y="2560320"/>
            <a:ext cx="22706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Adaptive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370168" y="3200400"/>
            <a:ext cx="227068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solver, Replanning Agent, event-driven Live Monitoring, event architecture, what-if simulation.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006611" y="2377440"/>
            <a:ext cx="2636444" cy="3566160"/>
          </a:xfrm>
          <a:prstGeom prst="roundRect">
            <a:avLst>
              <a:gd name="adj" fmla="val 3121"/>
            </a:avLst>
          </a:prstGeom>
          <a:solidFill>
            <a:srgbClr val="121A2E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89491" y="2560320"/>
            <a:ext cx="22706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Scale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9189491" y="3200400"/>
            <a:ext cx="227068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Agent (feature-flagged, gated), evaluation harness at scale, multi-destination and collaborative trips.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TRIP PLANNING PLATFORM  ·  BLUEPRINT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10728655" y="65471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0362895" y="31089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3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· THE 10/10 DIFFERENTIATOR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2412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is commodity.</a:t>
            </a:r>
            <a:endParaRPr lang="en-US" sz="27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under constraints are not.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2441448"/>
            <a:ext cx="82296" cy="82296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2331720"/>
            <a:ext cx="24535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orchestration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67964" y="2441448"/>
            <a:ext cx="82296" cy="82296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550844" y="2331720"/>
            <a:ext cx="24535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optimization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87288" y="2441448"/>
            <a:ext cx="82296" cy="82296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70168" y="2331720"/>
            <a:ext cx="24535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validation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006611" y="2441448"/>
            <a:ext cx="82296" cy="82296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89491" y="2331720"/>
            <a:ext cx="24535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replanning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944368"/>
            <a:ext cx="82296" cy="82296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2834640"/>
            <a:ext cx="24535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monitoring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367964" y="2944368"/>
            <a:ext cx="82296" cy="82296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550844" y="2834640"/>
            <a:ext cx="24535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trade-offs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87288" y="2944368"/>
            <a:ext cx="82296" cy="82296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70168" y="2834640"/>
            <a:ext cx="24535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3-tier memory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006611" y="2944368"/>
            <a:ext cx="82296" cy="82296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89491" y="2834640"/>
            <a:ext cx="24535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arithmetic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3520440"/>
            <a:ext cx="11094415" cy="1051560"/>
          </a:xfrm>
          <a:prstGeom prst="roundRect">
            <a:avLst>
              <a:gd name="adj" fmla="val 7826"/>
            </a:avLst>
          </a:prstGeom>
          <a:solidFill>
            <a:srgbClr val="16203A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2960" y="365760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stateful, multi-agent travel decision system that combines real-world data, constraint optimization, validation, and event-driven replanning to continuously maintain a feasible, personalized trip.”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846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extensions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1663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Multi-destination &amp; multi-leg international trips · group/collaborative planning with shared constraints · carbon-aware routing · richer accessibility modeling · proactive re-optimization using predicted disruption probability · a marketplace of provider-specific tool plugins behind the same MCP contract.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TRIP PLANNING PLATFORM  ·  BLUEPRINT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10728655" y="65471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2026-09-23T06:26:13Z</dcterms:created>
  <dcterms:modified xsi:type="dcterms:W3CDTF">2026-09-23T06:26:13Z</dcterms:modified>
</cp:coreProperties>
</file>